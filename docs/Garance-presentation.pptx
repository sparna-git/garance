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731749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9587070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D4A857-79B4-8ADA-9A99-88F38CB944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890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6158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223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F58934-0BB3-2A17-C54D-8A76F5101C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328030-76B5-3B98-B870-9083F85C0F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A30500-6769-0537-257D-046445962F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43681" name="Google Shape;98;g39b4cd50312_0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758820" name="Google Shape;99;g39b4cd50312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421938" name="Google Shape;134;g39b4cd50312_0_4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74957" name="Google Shape;135;g39b4cd50312_0_4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89597" name="Google Shape;160;g39b4cd50312_0_6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826278" name="Google Shape;161;g39b4cd50312_0_6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356376" name="Google Shape;165;g39b4cd50312_0_6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577353" name="Google Shape;166;g39b4cd50312_0_6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987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8971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271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EDE1EA-C3C3-5A83-8132-79EACD702D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377028" name="Google Shape;92;g38df70d2d2a_1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045634" name="Google Shape;93;g38df70d2d2a_1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551884" name="Google Shape;170;g38df70d2d2a_1_1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538169" name="Google Shape;171;g38df70d2d2a_1_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771001" name="Google Shape;176;g38df70d2d2a_1_7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25494" name="Google Shape;177;g38df70d2d2a_1_7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662752" name="Google Shape;182;g39efdb13ea1_0_1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44327" name="Google Shape;183;g39efdb13ea1_0_1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999026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042383639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92946799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26430" name="Google Shape;14;p3"/>
          <p:cNvSpPr txBox="1"/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953434493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785505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3026512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4581541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987713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5278127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110802866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49805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446237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9406341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306045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491020876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714005338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874189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793868873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535042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6206105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185743307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773676234" name="Google Shape;39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6062324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457204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8845064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557433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296007491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4664628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499764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11051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83076276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70340413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vocab.performing-arts.ch/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w3.org/TR/json-ld11-framing/" TargetMode="External"/><Relationship Id="rId4" Type="http://schemas.openxmlformats.org/officeDocument/2006/relationships/hyperlink" Target="https://www.11ty.dev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agefind.app/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867448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Garance architecture</a:t>
            </a:r>
            <a:endParaRPr/>
          </a:p>
        </p:txBody>
      </p:sp>
      <p:sp>
        <p:nvSpPr>
          <p:cNvPr id="69290484" name="Google Shape;18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fr-FR"/>
              <a:t>Generic tool to publish RDF data in </a:t>
            </a:r>
            <a:r>
              <a:rPr lang="fr-FR" i="1"/>
              <a:t>static websites</a:t>
            </a:r>
            <a:endParaRPr lang="fr-FR" i="1"/>
          </a:p>
          <a:p>
            <a:pPr>
              <a:defRPr/>
            </a:pPr>
            <a:endParaRPr lang="fr-FR" i="0"/>
          </a:p>
          <a:p>
            <a:pPr>
              <a:defRPr/>
            </a:pPr>
            <a:r>
              <a:rPr lang="fr-FR" i="0"/>
              <a:t>Lightweight solution to make RDF data browsable</a:t>
            </a:r>
            <a:endParaRPr lang="fr-FR" i="0"/>
          </a:p>
          <a:p>
            <a:pPr>
              <a:defRPr/>
            </a:pPr>
            <a:endParaRPr lang="fr-FR" i="0"/>
          </a:p>
          <a:p>
            <a:pPr>
              <a:defRPr/>
            </a:pPr>
            <a:r>
              <a:rPr lang="fr-FR" i="0"/>
              <a:t>Initially deployed for the SAPA foundation vocabularies</a:t>
            </a:r>
            <a:endParaRPr lang="fr-FR" i="0"/>
          </a:p>
          <a:p>
            <a:pPr lvl="1">
              <a:defRPr/>
            </a:pPr>
            <a:r>
              <a:rPr lang="fr-FR" sz="1400" b="0" i="0" u="sng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hlinkClick r:id="rId3" tooltip=""/>
              </a:rPr>
              <a:t>https://vocab.performing-arts.ch/</a:t>
            </a:r>
            <a:r>
              <a:rPr lang="fr-FR" i="0"/>
              <a:t> </a:t>
            </a:r>
            <a:endParaRPr lang="fr-FR" i="0"/>
          </a:p>
          <a:p>
            <a:pPr lvl="1">
              <a:defRPr/>
            </a:pPr>
            <a:r>
              <a:rPr lang="fr-FR" i="0"/>
              <a:t>Small SKOS controlled lists, each in one page</a:t>
            </a:r>
            <a:endParaRPr lang="fr-FR" i="0"/>
          </a:p>
          <a:p>
            <a:pPr lvl="1">
              <a:defRPr/>
            </a:pPr>
            <a:r>
              <a:rPr lang="fr-FR" i="0"/>
              <a:t>With URI resolution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022831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Why static websites</a:t>
            </a:r>
            <a:r>
              <a:rPr lang="fr-FR"/>
              <a:t> ?</a:t>
            </a:r>
            <a:endParaRPr/>
          </a:p>
        </p:txBody>
      </p:sp>
      <p:sp>
        <p:nvSpPr>
          <p:cNvPr id="1391491217" name="Google Shape;18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 fontScale="80000" lnSpcReduction="4000"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fr-FR" u="sng"/>
              <a:t>Eassy deployment</a:t>
            </a:r>
            <a:r>
              <a:rPr lang="fr-FR"/>
              <a:t> : only a web server is needed, no need to install a database + an application</a:t>
            </a:r>
            <a:endParaRPr lang="fr-FR"/>
          </a:p>
          <a:p>
            <a:pPr>
              <a:defRPr/>
            </a:pPr>
            <a:r>
              <a:rPr lang="fr-FR" u="sng"/>
              <a:t>Speed </a:t>
            </a:r>
            <a:r>
              <a:rPr lang="fr-FR"/>
              <a:t>: static files load quicker</a:t>
            </a:r>
            <a:endParaRPr lang="fr-FR"/>
          </a:p>
          <a:p>
            <a:pPr lvl="1">
              <a:defRPr/>
            </a:pPr>
            <a:r>
              <a:rPr lang="fr-FR"/>
              <a:t>Google crawler likes that</a:t>
            </a:r>
            <a:endParaRPr/>
          </a:p>
          <a:p>
            <a:pPr>
              <a:defRPr/>
            </a:pPr>
            <a:r>
              <a:rPr lang="fr-FR" u="sng"/>
              <a:t>Security </a:t>
            </a:r>
            <a:r>
              <a:rPr lang="fr-FR"/>
              <a:t>: no server-side application, less possibilities of intrusion</a:t>
            </a:r>
            <a:endParaRPr lang="fr-FR"/>
          </a:p>
          <a:p>
            <a:pPr>
              <a:defRPr/>
            </a:pPr>
            <a:r>
              <a:rPr lang="fr-FR" u="sng"/>
              <a:t>Simplicity </a:t>
            </a:r>
            <a:r>
              <a:rPr lang="fr-FR"/>
              <a:t>: HTML + JS + CSS</a:t>
            </a:r>
            <a:endParaRPr lang="fr-FR"/>
          </a:p>
          <a:p>
            <a:pPr>
              <a:defRPr/>
            </a:pPr>
            <a:r>
              <a:rPr lang="fr-FR" u="sng"/>
              <a:t>Cost </a:t>
            </a:r>
            <a:r>
              <a:rPr lang="fr-FR"/>
              <a:t>: no application maintenance needed</a:t>
            </a:r>
            <a:endParaRPr lang="fr-FR"/>
          </a:p>
          <a:p>
            <a:pPr>
              <a:defRPr/>
            </a:pPr>
            <a:r>
              <a:rPr lang="fr-FR" u="sng"/>
              <a:t>Reliability </a:t>
            </a:r>
            <a:r>
              <a:rPr lang="fr-FR"/>
              <a:t>: no possible downtimes, since there is no database or application that runs</a:t>
            </a:r>
            <a:endParaRPr lang="fr-FR"/>
          </a:p>
          <a:p>
            <a:pPr>
              <a:defRPr/>
            </a:pPr>
            <a:r>
              <a:rPr lang="fr-FR" u="sng"/>
              <a:t>Customisation </a:t>
            </a:r>
            <a:r>
              <a:rPr lang="fr-FR"/>
              <a:t>:</a:t>
            </a:r>
            <a:endParaRPr lang="fr-FR"/>
          </a:p>
          <a:p>
            <a:pPr lvl="1">
              <a:defRPr/>
            </a:pPr>
            <a:r>
              <a:rPr lang="fr-FR"/>
              <a:t>Generic layout for any RDF data</a:t>
            </a:r>
            <a:endParaRPr lang="fr-FR"/>
          </a:p>
          <a:p>
            <a:pPr lvl="1">
              <a:defRPr/>
            </a:pPr>
            <a:r>
              <a:rPr lang="fr-FR"/>
              <a:t>Dedicated layout for SKOS vocabularies</a:t>
            </a:r>
            <a:endParaRPr lang="fr-FR"/>
          </a:p>
          <a:p>
            <a:pPr lvl="1">
              <a:defRPr/>
            </a:pPr>
            <a:r>
              <a:rPr lang="fr-FR"/>
              <a:t>Ability to customize some part of the layout</a:t>
            </a:r>
            <a:endParaRPr lang="fr-FR"/>
          </a:p>
          <a:p>
            <a:pPr lvl="2">
              <a:defRPr/>
            </a:pPr>
            <a:r>
              <a:rPr lang="fr-FR"/>
              <a:t>E.g. Display a certain predicate in a certain way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Good for data that does not change often</a:t>
            </a:r>
            <a:endParaRPr lang="fr-FR"/>
          </a:p>
          <a:p>
            <a:pPr lvl="1">
              <a:defRPr/>
            </a:pPr>
            <a:r>
              <a:rPr lang="fr-FR"/>
              <a:t>of course less suited for data that is updated frequently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64597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Relies on 2 main components</a:t>
            </a:r>
            <a:endParaRPr/>
          </a:p>
        </p:txBody>
      </p:sp>
      <p:sp>
        <p:nvSpPr>
          <p:cNvPr id="1069372293" name="Google Shape;18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marL="398179" indent="-283879">
              <a:buClr>
                <a:schemeClr val="dk2"/>
              </a:buClr>
              <a:buSzPts val="1800"/>
              <a:buAutoNum type="arabicPeriod"/>
              <a:defRPr/>
            </a:pPr>
            <a:r>
              <a:rPr lang="fr-FR"/>
              <a:t>JSON-LD framing</a:t>
            </a:r>
            <a:endParaRPr lang="fr-FR"/>
          </a:p>
          <a:p>
            <a:pPr lvl="1">
              <a:defRPr/>
            </a:pPr>
            <a:r>
              <a:rPr lang="fr-FR" sz="1400" b="0" i="0" u="sng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hlinkClick r:id="rId3" tooltip=""/>
              </a:rPr>
              <a:t>https://www.w3.org/TR/json-ld11-framing/</a:t>
            </a:r>
            <a:endParaRPr lang="fr-FR"/>
          </a:p>
          <a:p>
            <a:pPr lvl="1">
              <a:defRPr/>
            </a:pPr>
            <a:r>
              <a:rPr lang="fr-FR"/>
              <a:t>Serialize RDF graphs into a classical JSON tree-like structure</a:t>
            </a:r>
            <a:endParaRPr lang="fr-FR"/>
          </a:p>
          <a:p>
            <a:pPr lvl="1">
              <a:defRPr/>
            </a:pPr>
            <a:r>
              <a:rPr lang="fr-FR"/>
              <a:t>« From RDF to clean JSON »</a:t>
            </a:r>
            <a:endParaRPr/>
          </a:p>
          <a:p>
            <a:pPr lvl="1">
              <a:defRPr/>
            </a:pPr>
            <a:endParaRPr lang="fr-FR"/>
          </a:p>
          <a:p>
            <a:pPr marL="398179" lvl="0" indent="-283879">
              <a:buClr>
                <a:schemeClr val="dk2"/>
              </a:buClr>
              <a:buSzPts val="1800"/>
              <a:buAutoNum type="arabicPeriod"/>
              <a:defRPr/>
            </a:pPr>
            <a:r>
              <a:rPr lang="fr-FR"/>
              <a:t>Static website generator that reads the JSON and do the actual website generation</a:t>
            </a:r>
            <a:endParaRPr lang="fr-FR"/>
          </a:p>
          <a:p>
            <a:pPr lvl="1">
              <a:defRPr/>
            </a:pPr>
            <a:r>
              <a:rPr lang="fr-FR"/>
              <a:t>11ty : </a:t>
            </a:r>
            <a:r>
              <a:rPr lang="fr-FR" sz="1400" b="0" i="0" u="sng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hlinkClick r:id="rId4" tooltip=""/>
              </a:rPr>
              <a:t>https://www.11ty.dev/</a:t>
            </a:r>
            <a:endParaRPr lang="fr-FR"/>
          </a:p>
          <a:p>
            <a:pPr lvl="1">
              <a:defRPr/>
            </a:pPr>
            <a:r>
              <a:rPr lang="fr-FR"/>
              <a:t>Based on Javascript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545145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What about search in static website ?</a:t>
            </a:r>
            <a:endParaRPr/>
          </a:p>
        </p:txBody>
      </p:sp>
      <p:sp>
        <p:nvSpPr>
          <p:cNvPr id="1800083561" name="Google Shape;18;p4"/>
          <p:cNvSpPr txBox="1"/>
          <p:nvPr>
            <p:ph type="body" idx="1"/>
          </p:nvPr>
        </p:nvSpPr>
        <p:spPr bwMode="auto">
          <a:xfrm flipH="0" flipV="0">
            <a:off x="311699" y="1152474"/>
            <a:ext cx="5591625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fr-FR"/>
              <a:t>There are solutions !</a:t>
            </a:r>
            <a:endParaRPr lang="fr-FR"/>
          </a:p>
          <a:p>
            <a:pPr marL="398179" indent="-283879">
              <a:buClr>
                <a:schemeClr val="dk2"/>
              </a:buClr>
              <a:buSzPts val="1800"/>
              <a:buAutoNum type="arabicPeriod"/>
              <a:defRPr/>
            </a:pPr>
            <a:r>
              <a:rPr lang="fr-FR"/>
              <a:t>Client-side custom quick-access</a:t>
            </a:r>
            <a:endParaRPr lang="fr-FR"/>
          </a:p>
          <a:p>
            <a:pPr marL="398179" indent="-283879">
              <a:buClr>
                <a:schemeClr val="dk2"/>
              </a:buClr>
              <a:buSzPts val="1800"/>
              <a:buAutoNum type="arabicPeriod"/>
              <a:defRPr/>
            </a:pPr>
            <a:r>
              <a:rPr lang="fr-FR"/>
              <a:t>Pagefind integration for </a:t>
            </a:r>
            <a:r>
              <a:rPr lang="fr-FR" i="0" u="sng"/>
              <a:t>browser-side</a:t>
            </a:r>
            <a:r>
              <a:rPr lang="fr-FR"/>
              <a:t> full-text search + facets</a:t>
            </a:r>
            <a:endParaRPr lang="fr-FR"/>
          </a:p>
          <a:p>
            <a:pPr lvl="1">
              <a:defRPr/>
            </a:pPr>
            <a:r>
              <a:rPr lang="fr-FR" sz="1400" b="0" i="0" u="sng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hlinkClick r:id="rId3" tooltip=""/>
              </a:rPr>
              <a:t>https://pagefind.app/</a:t>
            </a:r>
            <a:endParaRPr lang="fr-FR"/>
          </a:p>
          <a:p>
            <a:pPr lvl="1">
              <a:defRPr/>
            </a:pPr>
            <a:r>
              <a:rPr lang="fr-FR"/>
              <a:t>Impressively fast and scalable</a:t>
            </a:r>
            <a:endParaRPr lang="fr-FR"/>
          </a:p>
          <a:p>
            <a:pPr marL="398179" lvl="0" indent="-283879">
              <a:buClr>
                <a:schemeClr val="dk2"/>
              </a:buClr>
              <a:buSzPts val="1800"/>
              <a:buAutoNum type="arabicPeriod"/>
              <a:defRPr/>
            </a:pPr>
            <a:r>
              <a:rPr lang="fr-FR"/>
              <a:t>The static website can be coupled with a dynmic part to query e.g. A SPARQL endpoint</a:t>
            </a:r>
            <a:endParaRPr/>
          </a:p>
        </p:txBody>
      </p:sp>
      <p:pic>
        <p:nvPicPr>
          <p:cNvPr id="157553552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35160" y="1219025"/>
            <a:ext cx="1259847" cy="173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7566875" name="Google Shape;101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2597363" y="4418871"/>
            <a:ext cx="557875" cy="557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398097" name="Google Shape;102;p20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1551351" y="176276"/>
            <a:ext cx="827750" cy="4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684224" name="Google Shape;103;p2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2375645" y="148955"/>
            <a:ext cx="285500" cy="2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778099" name="Google Shape;104;p2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2460667" y="246205"/>
            <a:ext cx="285500" cy="2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361136" name="Google Shape;105;p2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2521992" y="337880"/>
            <a:ext cx="285500" cy="2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885504" name="Google Shape;106;p20"/>
          <p:cNvSpPr/>
          <p:nvPr/>
        </p:nvSpPr>
        <p:spPr bwMode="auto">
          <a:xfrm>
            <a:off x="1103576" y="860605"/>
            <a:ext cx="2429699" cy="465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100"/>
              <a:t>Read / merge</a:t>
            </a:r>
            <a:endParaRPr sz="2100"/>
          </a:p>
        </p:txBody>
      </p:sp>
      <p:pic>
        <p:nvPicPr>
          <p:cNvPr id="1278923544" name="Google Shape;107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2064450" y="1547266"/>
            <a:ext cx="504274" cy="5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68089252" name="Google Shape;108;p20"/>
          <p:cNvSpPr/>
          <p:nvPr/>
        </p:nvSpPr>
        <p:spPr bwMode="auto">
          <a:xfrm>
            <a:off x="1103576" y="2304364"/>
            <a:ext cx="2429699" cy="433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 sz="2100"/>
              <a:t>Framing</a:t>
            </a:r>
            <a:endParaRPr sz="2100"/>
          </a:p>
        </p:txBody>
      </p:sp>
      <p:pic>
        <p:nvPicPr>
          <p:cNvPr id="219929627" name="Google Shape;109;p20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1457223" y="2950566"/>
            <a:ext cx="557875" cy="557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653092" name="Google Shape;110;p20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2039498" y="2950566"/>
            <a:ext cx="557875" cy="557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64687" name="Google Shape;111;p20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2671648" y="2950566"/>
            <a:ext cx="557875" cy="557888"/>
          </a:xfrm>
          <a:prstGeom prst="rect">
            <a:avLst/>
          </a:prstGeom>
          <a:noFill/>
          <a:ln>
            <a:noFill/>
          </a:ln>
        </p:spPr>
      </p:pic>
      <p:sp>
        <p:nvSpPr>
          <p:cNvPr id="1722804154" name="Google Shape;112;p20"/>
          <p:cNvSpPr/>
          <p:nvPr/>
        </p:nvSpPr>
        <p:spPr bwMode="auto">
          <a:xfrm>
            <a:off x="1101739" y="3686495"/>
            <a:ext cx="2429699" cy="465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100"/>
              <a:t>Site generation</a:t>
            </a:r>
            <a:endParaRPr sz="2100"/>
          </a:p>
        </p:txBody>
      </p:sp>
      <p:pic>
        <p:nvPicPr>
          <p:cNvPr id="860565299" name="Google Shape;113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2039524" y="4412696"/>
            <a:ext cx="557875" cy="557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934449" name="Google Shape;114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494207" y="4412751"/>
            <a:ext cx="557875" cy="557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9434174" name="Google Shape;115;p20"/>
          <p:cNvSpPr/>
          <p:nvPr/>
        </p:nvSpPr>
        <p:spPr bwMode="auto">
          <a:xfrm>
            <a:off x="2148976" y="726143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22177514" name="Google Shape;116;p20"/>
          <p:cNvSpPr/>
          <p:nvPr/>
        </p:nvSpPr>
        <p:spPr bwMode="auto">
          <a:xfrm>
            <a:off x="2124039" y="1305704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2919710" name="Google Shape;117;p20"/>
          <p:cNvSpPr/>
          <p:nvPr/>
        </p:nvSpPr>
        <p:spPr bwMode="auto">
          <a:xfrm>
            <a:off x="2122176" y="2180755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02035099" name="Google Shape;118;p20"/>
          <p:cNvSpPr/>
          <p:nvPr/>
        </p:nvSpPr>
        <p:spPr bwMode="auto">
          <a:xfrm>
            <a:off x="2124051" y="3542355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0064467" name="Google Shape;119;p20"/>
          <p:cNvSpPr/>
          <p:nvPr/>
        </p:nvSpPr>
        <p:spPr bwMode="auto">
          <a:xfrm>
            <a:off x="2122164" y="2719654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05926280" name="Google Shape;120;p20"/>
          <p:cNvSpPr/>
          <p:nvPr/>
        </p:nvSpPr>
        <p:spPr bwMode="auto">
          <a:xfrm>
            <a:off x="2122176" y="4133613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8401200" name="Google Shape;121;p20"/>
          <p:cNvSpPr txBox="1"/>
          <p:nvPr/>
        </p:nvSpPr>
        <p:spPr bwMode="auto">
          <a:xfrm>
            <a:off x="3218488" y="1323925"/>
            <a:ext cx="5222400" cy="9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-FR" sz="1500">
                <a:solidFill>
                  <a:srgbClr val="202E70"/>
                </a:solidFill>
              </a:rPr>
              <a:t>A single JSON-LD file</a:t>
            </a:r>
            <a:endParaRPr sz="1500">
              <a:solidFill>
                <a:srgbClr val="202E7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-FR" sz="1500">
                <a:solidFill>
                  <a:srgbClr val="202E70"/>
                </a:solidFill>
              </a:rPr>
              <a:t>« Flat » serialization (flat list of entities)</a:t>
            </a:r>
            <a:endParaRPr sz="1500">
              <a:solidFill>
                <a:srgbClr val="202E70"/>
              </a:solidFill>
            </a:endParaRPr>
          </a:p>
        </p:txBody>
      </p:sp>
      <p:sp>
        <p:nvSpPr>
          <p:cNvPr id="1523979742" name="Google Shape;122;p20"/>
          <p:cNvSpPr txBox="1"/>
          <p:nvPr/>
        </p:nvSpPr>
        <p:spPr bwMode="auto">
          <a:xfrm>
            <a:off x="3261600" y="2729450"/>
            <a:ext cx="5774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" sz="1500">
                <a:solidFill>
                  <a:srgbClr val="202E70"/>
                </a:solidFill>
              </a:rPr>
              <a:t>3 </a:t>
            </a:r>
            <a:r>
              <a:rPr lang="fr-FR" sz="1500">
                <a:solidFill>
                  <a:srgbClr val="202E70"/>
                </a:solidFill>
              </a:rPr>
              <a:t>clean </a:t>
            </a:r>
            <a:r>
              <a:rPr lang="fr" sz="1500">
                <a:solidFill>
                  <a:srgbClr val="202E70"/>
                </a:solidFill>
              </a:rPr>
              <a:t>JSON(-LD) </a:t>
            </a:r>
            <a:r>
              <a:rPr lang="fr-FR" sz="1500">
                <a:solidFill>
                  <a:srgbClr val="202E70"/>
                </a:solidFill>
              </a:rPr>
              <a:t>files</a:t>
            </a:r>
            <a:r>
              <a:rPr lang="fr" sz="1500">
                <a:solidFill>
                  <a:srgbClr val="202E70"/>
                </a:solidFill>
              </a:rPr>
              <a:t> : Agents, </a:t>
            </a:r>
            <a:r>
              <a:rPr lang="fr-FR" sz="1500">
                <a:solidFill>
                  <a:srgbClr val="202E70"/>
                </a:solidFill>
              </a:rPr>
              <a:t>Places</a:t>
            </a:r>
            <a:r>
              <a:rPr lang="fr" sz="1500">
                <a:solidFill>
                  <a:srgbClr val="202E70"/>
                </a:solidFill>
              </a:rPr>
              <a:t>, Vocabula</a:t>
            </a:r>
            <a:r>
              <a:rPr lang="fr-FR" sz="1500">
                <a:solidFill>
                  <a:srgbClr val="202E70"/>
                </a:solidFill>
              </a:rPr>
              <a:t>ries</a:t>
            </a:r>
            <a:endParaRPr sz="1500">
              <a:solidFill>
                <a:srgbClr val="202E7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-FR" sz="1500">
                <a:solidFill>
                  <a:srgbClr val="202E70"/>
                </a:solidFill>
              </a:rPr>
              <a:t>Controlled, tree-shaped JSON serialisation</a:t>
            </a:r>
            <a:endParaRPr sz="1500">
              <a:solidFill>
                <a:srgbClr val="202E70"/>
              </a:solidFill>
            </a:endParaRPr>
          </a:p>
        </p:txBody>
      </p:sp>
      <p:pic>
        <p:nvPicPr>
          <p:cNvPr id="891443552" name="Google Shape;123;p20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151233" y="2137850"/>
            <a:ext cx="504275" cy="5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81550" name="Google Shape;124;p20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285417" y="2284175"/>
            <a:ext cx="504275" cy="5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9007431" name="Google Shape;125;p20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425664" y="2400148"/>
            <a:ext cx="504275" cy="5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101369" name="Google Shape;126;p20"/>
          <p:cNvSpPr txBox="1"/>
          <p:nvPr/>
        </p:nvSpPr>
        <p:spPr bwMode="auto">
          <a:xfrm>
            <a:off x="3256100" y="4149074"/>
            <a:ext cx="5707200" cy="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" sz="1500">
                <a:solidFill>
                  <a:srgbClr val="202E70"/>
                </a:solidFill>
              </a:rPr>
              <a:t>70000 HTML</a:t>
            </a:r>
            <a:r>
              <a:rPr lang="fr-FR" sz="1500">
                <a:solidFill>
                  <a:srgbClr val="202E70"/>
                </a:solidFill>
              </a:rPr>
              <a:t> pages</a:t>
            </a:r>
            <a:endParaRPr sz="1500">
              <a:solidFill>
                <a:srgbClr val="202E7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-FR" sz="1500">
                <a:solidFill>
                  <a:srgbClr val="202E70"/>
                </a:solidFill>
              </a:rPr>
              <a:t>RiC-O relations entities included in each page</a:t>
            </a:r>
            <a:endParaRPr sz="1500">
              <a:solidFill>
                <a:srgbClr val="202E7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-FR" sz="1500">
                <a:solidFill>
                  <a:srgbClr val="202E70"/>
                </a:solidFill>
              </a:rPr>
              <a:t>Labelled of referenced entities included in each page</a:t>
            </a:r>
            <a:endParaRPr sz="1500">
              <a:solidFill>
                <a:srgbClr val="202E70"/>
              </a:solidFill>
            </a:endParaRPr>
          </a:p>
        </p:txBody>
      </p:sp>
      <p:sp>
        <p:nvSpPr>
          <p:cNvPr id="1288627330" name="Google Shape;127;p20"/>
          <p:cNvSpPr txBox="1"/>
          <p:nvPr/>
        </p:nvSpPr>
        <p:spPr bwMode="auto">
          <a:xfrm>
            <a:off x="3218486" y="89863"/>
            <a:ext cx="45300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02E70"/>
              </a:buClr>
              <a:buSzPts val="1500"/>
              <a:buChar char="-"/>
              <a:defRPr/>
            </a:pPr>
            <a:r>
              <a:rPr lang="fr" sz="1500">
                <a:solidFill>
                  <a:srgbClr val="202E70"/>
                </a:solidFill>
              </a:rPr>
              <a:t>70000 RDF/XML</a:t>
            </a:r>
            <a:r>
              <a:rPr lang="fr-FR" sz="1500">
                <a:solidFill>
                  <a:srgbClr val="202E70"/>
                </a:solidFill>
              </a:rPr>
              <a:t> files</a:t>
            </a:r>
            <a:endParaRPr sz="1500">
              <a:solidFill>
                <a:srgbClr val="202E70"/>
              </a:solidFill>
            </a:endParaRPr>
          </a:p>
        </p:txBody>
      </p:sp>
      <p:sp>
        <p:nvSpPr>
          <p:cNvPr id="615137911" name="Google Shape;128;p20"/>
          <p:cNvSpPr txBox="1"/>
          <p:nvPr/>
        </p:nvSpPr>
        <p:spPr bwMode="auto">
          <a:xfrm>
            <a:off x="3564700" y="2304375"/>
            <a:ext cx="52587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 sz="1500" i="1">
                <a:solidFill>
                  <a:srgbClr val="202E70"/>
                </a:solidFill>
              </a:rPr>
              <a:t>“</a:t>
            </a:r>
            <a:r>
              <a:rPr lang="fr-FR" sz="1500" i="1">
                <a:solidFill>
                  <a:srgbClr val="202E70"/>
                </a:solidFill>
              </a:rPr>
              <a:t>From graph to tree</a:t>
            </a:r>
            <a:r>
              <a:rPr lang="fr" sz="1500" i="1">
                <a:solidFill>
                  <a:srgbClr val="202E70"/>
                </a:solidFill>
              </a:rPr>
              <a:t>”</a:t>
            </a:r>
            <a:endParaRPr sz="1500" i="1">
              <a:solidFill>
                <a:srgbClr val="202E70"/>
              </a:solidFill>
            </a:endParaRPr>
          </a:p>
        </p:txBody>
      </p:sp>
      <p:sp>
        <p:nvSpPr>
          <p:cNvPr id="2080712453" name="Google Shape;129;p20"/>
          <p:cNvSpPr/>
          <p:nvPr/>
        </p:nvSpPr>
        <p:spPr bwMode="auto">
          <a:xfrm rot="-5400000">
            <a:off x="908251" y="2375855"/>
            <a:ext cx="388800" cy="261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77424356" name="Google Shape;130;p20"/>
          <p:cNvSpPr txBox="1"/>
          <p:nvPr/>
        </p:nvSpPr>
        <p:spPr bwMode="auto">
          <a:xfrm>
            <a:off x="31100" y="2832825"/>
            <a:ext cx="10863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000" i="1">
                <a:solidFill>
                  <a:srgbClr val="202E70"/>
                </a:solidFill>
              </a:rPr>
              <a:t>JSON Framing spec :</a:t>
            </a:r>
            <a:endParaRPr sz="1000" i="1">
              <a:solidFill>
                <a:srgbClr val="202E7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 sz="1000" i="1">
                <a:solidFill>
                  <a:srgbClr val="202E70"/>
                </a:solidFill>
              </a:rPr>
              <a:t>Agents / </a:t>
            </a:r>
            <a:r>
              <a:rPr lang="fr-FR" sz="1000" i="1">
                <a:solidFill>
                  <a:srgbClr val="202E70"/>
                </a:solidFill>
              </a:rPr>
              <a:t>Places </a:t>
            </a:r>
            <a:r>
              <a:rPr lang="fr" sz="1000" i="1">
                <a:solidFill>
                  <a:srgbClr val="202E70"/>
                </a:solidFill>
              </a:rPr>
              <a:t>/ Vocabulaires</a:t>
            </a:r>
            <a:endParaRPr sz="1000" i="1">
              <a:solidFill>
                <a:srgbClr val="202E70"/>
              </a:solidFill>
            </a:endParaRPr>
          </a:p>
        </p:txBody>
      </p:sp>
      <p:pic>
        <p:nvPicPr>
          <p:cNvPr id="642992092" name="Google Shape;131;p20"/>
          <p:cNvPicPr/>
          <p:nvPr/>
        </p:nvPicPr>
        <p:blipFill rotWithShape="1">
          <a:blip r:embed="rId9">
            <a:alphaModFix/>
          </a:blip>
          <a:stretch/>
        </p:blipFill>
        <p:spPr bwMode="auto">
          <a:xfrm>
            <a:off x="3707676" y="3729033"/>
            <a:ext cx="388799" cy="38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4770001" name="Google Shape;132;p20"/>
          <p:cNvSpPr txBox="1"/>
          <p:nvPr/>
        </p:nvSpPr>
        <p:spPr bwMode="auto">
          <a:xfrm>
            <a:off x="4172300" y="3706675"/>
            <a:ext cx="3874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500" i="1">
                <a:solidFill>
                  <a:srgbClr val="202E70"/>
                </a:solidFill>
              </a:rPr>
              <a:t>Static website generator</a:t>
            </a:r>
            <a:endParaRPr sz="1500" i="1">
              <a:solidFill>
                <a:srgbClr val="202E7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681047" name="Google Shape;137;p21"/>
          <p:cNvSpPr/>
          <p:nvPr/>
        </p:nvSpPr>
        <p:spPr bwMode="auto">
          <a:xfrm>
            <a:off x="5024375" y="1720511"/>
            <a:ext cx="2690100" cy="1147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rgbClr val="202E70"/>
                </a:solidFill>
              </a:rPr>
              <a:t>SPARQL query service</a:t>
            </a:r>
            <a:endParaRPr>
              <a:solidFill>
                <a:srgbClr val="202E70"/>
              </a:solidFill>
            </a:endParaRPr>
          </a:p>
        </p:txBody>
      </p:sp>
      <p:sp>
        <p:nvSpPr>
          <p:cNvPr id="1460253368" name="Google Shape;138;p21"/>
          <p:cNvSpPr/>
          <p:nvPr/>
        </p:nvSpPr>
        <p:spPr bwMode="auto">
          <a:xfrm>
            <a:off x="272150" y="1728725"/>
            <a:ext cx="3602400" cy="3191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500">
                <a:solidFill>
                  <a:srgbClr val="202E70"/>
                </a:solidFill>
              </a:rPr>
              <a:t>Static website with content negociation</a:t>
            </a:r>
            <a:endParaRPr sz="1500">
              <a:solidFill>
                <a:srgbClr val="202E70"/>
              </a:solidFill>
            </a:endParaRPr>
          </a:p>
        </p:txBody>
      </p:sp>
      <p:pic>
        <p:nvPicPr>
          <p:cNvPr id="712123732" name="Google Shape;139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140145" y="361480"/>
            <a:ext cx="285500" cy="2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022813" name="Google Shape;140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225167" y="458730"/>
            <a:ext cx="285500" cy="2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552127" name="Google Shape;141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4286492" y="550405"/>
            <a:ext cx="285500" cy="2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717803" name="Google Shape;142;p21"/>
          <p:cNvSpPr/>
          <p:nvPr/>
        </p:nvSpPr>
        <p:spPr bwMode="auto">
          <a:xfrm>
            <a:off x="1517510" y="1795775"/>
            <a:ext cx="1110600" cy="1120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100"/>
              <a:t>HTML pages</a:t>
            </a:r>
            <a:endParaRPr sz="2100"/>
          </a:p>
        </p:txBody>
      </p:sp>
      <p:sp>
        <p:nvSpPr>
          <p:cNvPr id="193361307" name="Google Shape;143;p21"/>
          <p:cNvSpPr/>
          <p:nvPr/>
        </p:nvSpPr>
        <p:spPr bwMode="auto">
          <a:xfrm>
            <a:off x="5154576" y="1849891"/>
            <a:ext cx="2429699" cy="465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 sz="2100"/>
              <a:t>QLever</a:t>
            </a:r>
            <a:endParaRPr sz="2100"/>
          </a:p>
        </p:txBody>
      </p:sp>
      <p:sp>
        <p:nvSpPr>
          <p:cNvPr id="1067025241" name="Google Shape;144;p21"/>
          <p:cNvSpPr/>
          <p:nvPr/>
        </p:nvSpPr>
        <p:spPr bwMode="auto">
          <a:xfrm>
            <a:off x="414400" y="3051125"/>
            <a:ext cx="3344400" cy="12102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800"/>
              <a:t>Sparnatural interface</a:t>
            </a:r>
            <a:endParaRPr sz="1800"/>
          </a:p>
        </p:txBody>
      </p:sp>
      <p:pic>
        <p:nvPicPr>
          <p:cNvPr id="414191871" name="Google Shape;145;p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1002014" y="3452421"/>
            <a:ext cx="2142674" cy="741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7052142" name="Google Shape;146;p21"/>
          <p:cNvSpPr/>
          <p:nvPr/>
        </p:nvSpPr>
        <p:spPr bwMode="auto">
          <a:xfrm rot="2701907">
            <a:off x="3407091" y="710225"/>
            <a:ext cx="382474" cy="1097147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67499718" name="Google Shape;147;p21"/>
          <p:cNvSpPr/>
          <p:nvPr/>
        </p:nvSpPr>
        <p:spPr bwMode="auto">
          <a:xfrm rot="-2698092">
            <a:off x="4946441" y="697855"/>
            <a:ext cx="382474" cy="1097147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760219523" name="Google Shape;148;p21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216115" y="1898987"/>
            <a:ext cx="381007" cy="3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690197" name="Google Shape;149;p21"/>
          <p:cNvSpPr/>
          <p:nvPr/>
        </p:nvSpPr>
        <p:spPr bwMode="auto">
          <a:xfrm>
            <a:off x="394667" y="1795775"/>
            <a:ext cx="1046400" cy="1120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900"/>
              <a:t>RDF files</a:t>
            </a:r>
            <a:endParaRPr sz="1900"/>
          </a:p>
        </p:txBody>
      </p:sp>
      <p:sp>
        <p:nvSpPr>
          <p:cNvPr id="33774331" name="Google Shape;150;p21"/>
          <p:cNvSpPr txBox="1"/>
          <p:nvPr/>
        </p:nvSpPr>
        <p:spPr bwMode="auto">
          <a:xfrm>
            <a:off x="1784847" y="371213"/>
            <a:ext cx="23553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500">
                <a:solidFill>
                  <a:srgbClr val="202E70"/>
                </a:solidFill>
              </a:rPr>
              <a:t>Original RDF dataset</a:t>
            </a:r>
            <a:endParaRPr sz="1500">
              <a:solidFill>
                <a:srgbClr val="202E70"/>
              </a:solidFill>
            </a:endParaRPr>
          </a:p>
        </p:txBody>
      </p:sp>
      <p:sp>
        <p:nvSpPr>
          <p:cNvPr id="584810497" name="Google Shape;151;p21"/>
          <p:cNvSpPr txBox="1"/>
          <p:nvPr/>
        </p:nvSpPr>
        <p:spPr bwMode="auto">
          <a:xfrm>
            <a:off x="1206497" y="864513"/>
            <a:ext cx="23553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500" i="1">
                <a:solidFill>
                  <a:srgbClr val="202E70"/>
                </a:solidFill>
              </a:rPr>
              <a:t>Website generation</a:t>
            </a:r>
            <a:endParaRPr sz="1500" i="1">
              <a:solidFill>
                <a:srgbClr val="202E70"/>
              </a:solidFill>
            </a:endParaRPr>
          </a:p>
        </p:txBody>
      </p:sp>
      <p:sp>
        <p:nvSpPr>
          <p:cNvPr id="2096164323" name="Google Shape;152;p21"/>
          <p:cNvSpPr txBox="1"/>
          <p:nvPr/>
        </p:nvSpPr>
        <p:spPr bwMode="auto">
          <a:xfrm>
            <a:off x="5154572" y="835888"/>
            <a:ext cx="23553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500" i="1">
                <a:solidFill>
                  <a:srgbClr val="202E70"/>
                </a:solidFill>
              </a:rPr>
              <a:t>Loading</a:t>
            </a:r>
            <a:endParaRPr sz="1500" i="1">
              <a:solidFill>
                <a:srgbClr val="202E70"/>
              </a:solidFill>
            </a:endParaRPr>
          </a:p>
        </p:txBody>
      </p:sp>
      <p:sp>
        <p:nvSpPr>
          <p:cNvPr id="2030080795" name="Google Shape;153;p21"/>
          <p:cNvSpPr/>
          <p:nvPr/>
        </p:nvSpPr>
        <p:spPr bwMode="auto">
          <a:xfrm>
            <a:off x="2709515" y="1795775"/>
            <a:ext cx="1046400" cy="11208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 sz="1900"/>
              <a:t>full-text</a:t>
            </a:r>
            <a:r>
              <a:rPr lang="fr-FR" sz="1900"/>
              <a:t> Index</a:t>
            </a:r>
            <a:endParaRPr sz="1900"/>
          </a:p>
        </p:txBody>
      </p:sp>
      <p:sp>
        <p:nvSpPr>
          <p:cNvPr id="1370838527" name="Google Shape;154;p21"/>
          <p:cNvSpPr/>
          <p:nvPr/>
        </p:nvSpPr>
        <p:spPr bwMode="auto">
          <a:xfrm rot="-2700000">
            <a:off x="3462177" y="2940622"/>
            <a:ext cx="1891793" cy="40220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640180358" name="Google Shape;155;p21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2741653" y="2682341"/>
            <a:ext cx="983037" cy="185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564019" name="Google Shape;156;p21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1517490" y="2571761"/>
            <a:ext cx="344795" cy="34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851945" name="Google Shape;157;p21"/>
          <p:cNvPicPr/>
          <p:nvPr/>
        </p:nvPicPr>
        <p:blipFill rotWithShape="1">
          <a:blip r:embed="rId8">
            <a:alphaModFix/>
          </a:blip>
          <a:stretch/>
        </p:blipFill>
        <p:spPr bwMode="auto">
          <a:xfrm>
            <a:off x="414400" y="2584128"/>
            <a:ext cx="285500" cy="30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349705776" name="Google Shape;158;p21"/>
          <p:cNvSpPr/>
          <p:nvPr/>
        </p:nvSpPr>
        <p:spPr bwMode="auto">
          <a:xfrm rot="5402695">
            <a:off x="2442806" y="2233325"/>
            <a:ext cx="382500" cy="3108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lt1"/>
              </a:gs>
              <a:gs pos="100000">
                <a:srgbClr val="202E70"/>
              </a:gs>
            </a:gsLst>
            <a:lin ang="5400700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5094043" name="Google Shape;163;p22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362198" y="703675"/>
            <a:ext cx="5837399" cy="37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8906294" name=""/>
          <p:cNvSpPr/>
          <p:nvPr/>
        </p:nvSpPr>
        <p:spPr bwMode="auto">
          <a:xfrm rot="0" flipH="0" flipV="0">
            <a:off x="542095" y="2571750"/>
            <a:ext cx="4967996" cy="1238249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4455783" name=""/>
          <p:cNvSpPr txBox="1"/>
          <p:nvPr/>
        </p:nvSpPr>
        <p:spPr bwMode="auto">
          <a:xfrm rot="0" flipH="0" flipV="0">
            <a:off x="6639963" y="2530661"/>
            <a:ext cx="2244568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Indicate that we want the skos:prefLabel to be included inside the rico :hasOrHadCorporateBody type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000"/>
              <a:t>(so that the human-readable label can be shown in the screen)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943218" name="Google Shape;168;p2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395300" y="152400"/>
            <a:ext cx="6011573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5641401" name=""/>
          <p:cNvSpPr/>
          <p:nvPr/>
        </p:nvSpPr>
        <p:spPr bwMode="auto">
          <a:xfrm rot="0" flipH="0" flipV="0">
            <a:off x="794227" y="2143124"/>
            <a:ext cx="4967995" cy="714373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8385410" name=""/>
          <p:cNvSpPr/>
          <p:nvPr/>
        </p:nvSpPr>
        <p:spPr bwMode="auto">
          <a:xfrm rot="0" flipH="0" flipV="0">
            <a:off x="1002656" y="4111810"/>
            <a:ext cx="4967994" cy="714373"/>
          </a:xfrm>
          <a:prstGeom prst="rect">
            <a:avLst/>
          </a:prstGeom>
          <a:noFill/>
          <a:ln w="25400" cap="flat" cmpd="sng" algn="ctr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419144" name=""/>
          <p:cNvSpPr txBox="1"/>
          <p:nvPr/>
        </p:nvSpPr>
        <p:spPr bwMode="auto">
          <a:xfrm rot="0" flipH="0" flipV="0">
            <a:off x="6639962" y="894989"/>
            <a:ext cx="2379567" cy="2865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Final hierarchical JSON structure showing how labels of referred entities are included in the data structure.</a:t>
            </a:r>
            <a:endParaRPr lang="fr-FR"/>
          </a:p>
          <a:p>
            <a:pPr>
              <a:defRPr/>
            </a:pPr>
            <a:br>
              <a:rPr lang="fr-FR"/>
            </a:br>
            <a:r>
              <a:rPr lang="fr-FR"/>
              <a:t>Each entity is described in a self-sufficient JSON object (no need to navigate the graph)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JSON structure is clean and easy to process.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564429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lang="fr-FR"/>
              <a:t>Scalability ?</a:t>
            </a:r>
            <a:endParaRPr/>
          </a:p>
        </p:txBody>
      </p:sp>
      <p:sp>
        <p:nvSpPr>
          <p:cNvPr id="1060439757" name="Google Shape;18;p4"/>
          <p:cNvSpPr txBox="1"/>
          <p:nvPr>
            <p:ph type="body" idx="1"/>
          </p:nvPr>
        </p:nvSpPr>
        <p:spPr bwMode="auto">
          <a:xfrm flipH="0" flipV="0">
            <a:off x="311698" y="1152474"/>
            <a:ext cx="8520600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Current deployment for the ANF generates with 70k pages in ~ 40 minutes</a:t>
            </a:r>
            <a:endParaRPr/>
          </a:p>
          <a:p>
            <a:pPr lvl="1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14 minutes only to read/merge the RDF files !</a:t>
            </a:r>
            <a:endParaRPr lang="fr-FR"/>
          </a:p>
          <a:p>
            <a:pPr lvl="1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6 minutes of framing</a:t>
            </a:r>
            <a:endParaRPr lang="fr-FR"/>
          </a:p>
          <a:p>
            <a:pPr lvl="1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9 minutes to generate the pages</a:t>
            </a:r>
            <a:endParaRPr lang="fr-FR"/>
          </a:p>
          <a:p>
            <a:pPr lvl="1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2 minutes to copy RDF file for content negociation</a:t>
            </a:r>
            <a:endParaRPr lang="fr-FR"/>
          </a:p>
          <a:p>
            <a:pPr lvl="1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3 minutes to create the PageFind index</a:t>
            </a:r>
            <a:endParaRPr lang="fr-FR"/>
          </a:p>
          <a:p>
            <a:pPr lvl="1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+ 3 minutes to copy files to the final server</a:t>
            </a:r>
            <a:endParaRPr lang="fr-FR"/>
          </a:p>
          <a:p>
            <a:pPr lvl="0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It would be more efficient with a dataset in a single (JSON-LD) file</a:t>
            </a:r>
            <a:endParaRPr lang="fr-FR"/>
          </a:p>
          <a:p>
            <a:pPr lvl="0">
              <a:buClr>
                <a:schemeClr val="dk2"/>
              </a:buClr>
              <a:buSzPts val="1800"/>
              <a:buFont typeface="Arial"/>
              <a:buChar char="•"/>
              <a:defRPr/>
            </a:pPr>
            <a:r>
              <a:rPr lang="fr-FR"/>
              <a:t>Right now we think the approach would scale up to 100k entities / pages</a:t>
            </a:r>
            <a:endParaRPr/>
          </a:p>
        </p:txBody>
      </p:sp>
      <p:pic>
        <p:nvPicPr>
          <p:cNvPr id="19242190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51286" y="1660511"/>
            <a:ext cx="3481013" cy="12589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477211" name="Google Shape;95;p19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Tableau diapo 7</a:t>
            </a:r>
            <a:endParaRPr/>
          </a:p>
        </p:txBody>
      </p:sp>
      <p:pic>
        <p:nvPicPr>
          <p:cNvPr id="2004528587" name="Google Shape;96;p19" title="stats_relations_janvier2025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3108600" y="282873"/>
            <a:ext cx="3777875" cy="465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493962" name="Google Shape;173;p24"/>
          <p:cNvSpPr txBox="1"/>
          <p:nvPr>
            <p:ph type="title"/>
          </p:nvPr>
        </p:nvSpPr>
        <p:spPr bwMode="auto">
          <a:xfrm>
            <a:off x="311700" y="147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Copie d’écran Agent</a:t>
            </a:r>
            <a:endParaRPr/>
          </a:p>
        </p:txBody>
      </p:sp>
      <p:pic>
        <p:nvPicPr>
          <p:cNvPr id="1580210586" name="Google Shape;174;p2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312275" y="932725"/>
            <a:ext cx="6329998" cy="40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306233" name="Google Shape;179;p2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Arborescence d’un vocabulaire</a:t>
            </a:r>
            <a:endParaRPr/>
          </a:p>
        </p:txBody>
      </p:sp>
      <p:pic>
        <p:nvPicPr>
          <p:cNvPr id="1274967548" name="Google Shape;180;p25" title="arbre-etats-docts-donnees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52400" y="1170125"/>
            <a:ext cx="8839199" cy="2411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920434" name="Google Shape;185;p2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"/>
              <a:t>recherche rapide</a:t>
            </a:r>
            <a:endParaRPr/>
          </a:p>
        </p:txBody>
      </p:sp>
      <p:pic>
        <p:nvPicPr>
          <p:cNvPr id="1276913694" name="Google Shape;186;p26" title="recherche_raspail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52400" y="1170125"/>
            <a:ext cx="559915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2025-12-05T12:08:36Z</dcterms:modified>
</cp:coreProperties>
</file>